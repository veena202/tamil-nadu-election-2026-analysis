
<file path=[Content_Types].xml><?xml version="1.0" encoding="utf-8"?>
<Types xmlns="http://schemas.openxmlformats.org/package/2006/content-types">
  <Default Extension="jfif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9" r:id="rId4"/>
    <p:sldId id="260" r:id="rId5"/>
    <p:sldId id="258" r:id="rId6"/>
    <p:sldId id="261" r:id="rId7"/>
    <p:sldId id="257" r:id="rId8"/>
    <p:sldId id="262" r:id="rId9"/>
    <p:sldId id="263" r:id="rId10"/>
    <p:sldId id="264" r:id="rId11"/>
    <p:sldId id="267" r:id="rId12"/>
    <p:sldId id="265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 Share 2021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E6-4C72-9FF7-7FF2083FB61F}"/>
              </c:ext>
            </c:extLst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E6-4C72-9FF7-7FF2083FB61F}"/>
              </c:ext>
            </c:extLst>
          </c:dPt>
          <c:dPt>
            <c:idx val="2"/>
            <c:bubble3D val="0"/>
            <c:spPr>
              <a:solidFill>
                <a:srgbClr val="E879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E6-4C72-9FF7-7FF2083FB61F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E6-4C72-9FF7-7FF2083FB61F}"/>
              </c:ext>
            </c:extLst>
          </c:dPt>
          <c:dPt>
            <c:idx val="4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5E6-4C72-9FF7-7FF2083FB61F}"/>
              </c:ext>
            </c:extLst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5E6-4C72-9FF7-7FF2083FB61F}"/>
              </c:ext>
            </c:extLst>
          </c:dPt>
          <c:dPt>
            <c:idx val="6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5E6-4C72-9FF7-7FF2083FB61F}"/>
              </c:ext>
            </c:extLst>
          </c:dPt>
          <c:dPt>
            <c:idx val="7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5E6-4C72-9FF7-7FF2083FB61F}"/>
              </c:ext>
            </c:extLst>
          </c:dPt>
          <c:dLbls>
            <c:dLbl>
              <c:idx val="0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5E6-4C72-9FF7-7FF2083FB61F}"/>
                </c:ext>
              </c:extLst>
            </c:dLbl>
            <c:dLbl>
              <c:idx val="1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5E6-4C72-9FF7-7FF2083FB61F}"/>
                </c:ext>
              </c:extLst>
            </c:dLbl>
            <c:dLbl>
              <c:idx val="2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D5E6-4C72-9FF7-7FF2083FB61F}"/>
                </c:ext>
              </c:extLst>
            </c:dLbl>
            <c:dLbl>
              <c:idx val="3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D5E6-4C72-9FF7-7FF2083FB61F}"/>
                </c:ext>
              </c:extLst>
            </c:dLbl>
            <c:dLbl>
              <c:idx val="4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D5E6-4C72-9FF7-7FF2083FB61F}"/>
                </c:ext>
              </c:extLst>
            </c:dLbl>
            <c:dLbl>
              <c:idx val="5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D5E6-4C72-9FF7-7FF2083FB61F}"/>
                </c:ext>
              </c:extLst>
            </c:dLbl>
            <c:dLbl>
              <c:idx val="6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D5E6-4C72-9FF7-7FF2083FB61F}"/>
                </c:ext>
              </c:extLst>
            </c:dLbl>
            <c:dLbl>
              <c:idx val="7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D5E6-4C72-9FF7-7FF2083FB61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DMK</c:v>
                </c:pt>
                <c:pt idx="1">
                  <c:v>AIADMK</c:v>
                </c:pt>
                <c:pt idx="2">
                  <c:v>NTK</c:v>
                </c:pt>
                <c:pt idx="3">
                  <c:v>INC</c:v>
                </c:pt>
                <c:pt idx="4">
                  <c:v>PMK</c:v>
                </c:pt>
                <c:pt idx="5">
                  <c:v>BJP</c:v>
                </c:pt>
                <c:pt idx="6">
                  <c:v>AMMK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33.5</c:v>
                </c:pt>
                <c:pt idx="2">
                  <c:v>6.6</c:v>
                </c:pt>
                <c:pt idx="3">
                  <c:v>4.3</c:v>
                </c:pt>
                <c:pt idx="4">
                  <c:v>3.8</c:v>
                </c:pt>
                <c:pt idx="5">
                  <c:v>2.6</c:v>
                </c:pt>
                <c:pt idx="6">
                  <c:v>2.4</c:v>
                </c:pt>
                <c:pt idx="7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5E6-4C72-9FF7-7FF2083FB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Vote Share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47-45BE-AF30-C19B504BB114}"/>
              </c:ext>
            </c:extLst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47-45BE-AF30-C19B504BB114}"/>
              </c:ext>
            </c:extLst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47-45BE-AF30-C19B504BB114}"/>
              </c:ext>
            </c:extLst>
          </c:dPt>
          <c:dPt>
            <c:idx val="3"/>
            <c:bubble3D val="0"/>
            <c:spPr>
              <a:solidFill>
                <a:srgbClr val="E879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47-45BE-AF30-C19B504BB114}"/>
              </c:ext>
            </c:extLst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47-45BE-AF30-C19B504BB114}"/>
              </c:ext>
            </c:extLst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47-45BE-AF30-C19B504BB114}"/>
              </c:ext>
            </c:extLst>
          </c:dPt>
          <c:dPt>
            <c:idx val="6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47-45BE-AF30-C19B504BB114}"/>
              </c:ext>
            </c:extLst>
          </c:dPt>
          <c:dPt>
            <c:idx val="7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47-45BE-AF30-C19B504BB114}"/>
              </c:ext>
            </c:extLst>
          </c:dPt>
          <c:dLbls>
            <c:dLbl>
              <c:idx val="0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947-45BE-AF30-C19B504BB114}"/>
                </c:ext>
              </c:extLst>
            </c:dLbl>
            <c:dLbl>
              <c:idx val="1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947-45BE-AF30-C19B504BB114}"/>
                </c:ext>
              </c:extLst>
            </c:dLbl>
            <c:dLbl>
              <c:idx val="2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947-45BE-AF30-C19B504BB114}"/>
                </c:ext>
              </c:extLst>
            </c:dLbl>
            <c:dLbl>
              <c:idx val="3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947-45BE-AF30-C19B504BB114}"/>
                </c:ext>
              </c:extLst>
            </c:dLbl>
            <c:dLbl>
              <c:idx val="4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6947-45BE-AF30-C19B504BB114}"/>
                </c:ext>
              </c:extLst>
            </c:dLbl>
            <c:dLbl>
              <c:idx val="5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6947-45BE-AF30-C19B504BB114}"/>
                </c:ext>
              </c:extLst>
            </c:dLbl>
            <c:dLbl>
              <c:idx val="6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6947-45BE-AF30-C19B504BB114}"/>
                </c:ext>
              </c:extLst>
            </c:dLbl>
            <c:dLbl>
              <c:idx val="7"/>
              <c:layout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6947-45BE-AF30-C19B504BB11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NTK</c:v>
                </c:pt>
                <c:pt idx="4">
                  <c:v>INC</c:v>
                </c:pt>
                <c:pt idx="5">
                  <c:v>BJP</c:v>
                </c:pt>
                <c:pt idx="6">
                  <c:v>PMK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35.1</c:v>
                </c:pt>
                <c:pt idx="1">
                  <c:v>24.3</c:v>
                </c:pt>
                <c:pt idx="2">
                  <c:v>21.3</c:v>
                </c:pt>
                <c:pt idx="3">
                  <c:v>4</c:v>
                </c:pt>
                <c:pt idx="4">
                  <c:v>3.4</c:v>
                </c:pt>
                <c:pt idx="5">
                  <c:v>3</c:v>
                </c:pt>
                <c:pt idx="6">
                  <c:v>2.2000000000000002</c:v>
                </c:pt>
                <c:pt idx="7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947-45BE-AF30-C19B504BB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16</c:v>
                </c:pt>
                <c:pt idx="2">
                  <c:v>0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CF-41E2-AC9D-6C1A6596FE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Others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23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CF-41E2-AC9D-6C1A6596FE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B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</c:v>
                </c:pt>
                <c:pt idx="1">
                  <c:v>49</c:v>
                </c:pt>
                <c:pt idx="2">
                  <c:v>0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8-499F-9417-55B00072CB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DMK</c:v>
                </c:pt>
                <c:pt idx="1">
                  <c:v>AIADMK</c:v>
                </c:pt>
                <c:pt idx="2">
                  <c:v>TVK</c:v>
                </c:pt>
                <c:pt idx="3">
                  <c:v>Others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38</c:v>
                </c:pt>
                <c:pt idx="2">
                  <c:v>84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8-499F-9417-55B00072CB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B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PMK</c:v>
                </c:pt>
                <c:pt idx="5">
                  <c:v>VCK</c:v>
                </c:pt>
                <c:pt idx="6">
                  <c:v>BJP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133</c:v>
                </c:pt>
                <c:pt idx="2">
                  <c:v>66</c:v>
                </c:pt>
                <c:pt idx="3">
                  <c:v>18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67-4DC6-A992-9F52676F6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PMK</c:v>
                </c:pt>
                <c:pt idx="5">
                  <c:v>VCK</c:v>
                </c:pt>
                <c:pt idx="6">
                  <c:v>BJP</c:v>
                </c:pt>
                <c:pt idx="7">
                  <c:v>Others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108</c:v>
                </c:pt>
                <c:pt idx="1">
                  <c:v>59</c:v>
                </c:pt>
                <c:pt idx="2">
                  <c:v>47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67-4DC6-A992-9F52676F66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B2B3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Winning Margin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E6-48A4-BB02-B52EB75A7F52}"/>
              </c:ext>
            </c:extLst>
          </c:dPt>
          <c:dPt>
            <c:idx val="1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E6-48A4-BB02-B52EB75A7F52}"/>
              </c:ext>
            </c:extLst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E6-48A4-BB02-B52EB75A7F52}"/>
              </c:ext>
            </c:extLst>
          </c:dPt>
          <c:dPt>
            <c:idx val="3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E6-48A4-BB02-B52EB75A7F52}"/>
              </c:ext>
            </c:extLst>
          </c:dPt>
          <c:dPt>
            <c:idx val="4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AE6-48A4-BB02-B52EB75A7F52}"/>
              </c:ext>
            </c:extLst>
          </c:dPt>
          <c:dPt>
            <c:idx val="5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AE6-48A4-BB02-B52EB75A7F52}"/>
              </c:ext>
            </c:extLst>
          </c:dPt>
          <c:dPt>
            <c:idx val="6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AE6-48A4-BB02-B52EB75A7F5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AE6-48A4-BB02-B52EB75A7F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Edapadi (AIADMK)</c:v>
                </c:pt>
                <c:pt idx="1">
                  <c:v>Shozhinganallur (TVK)</c:v>
                </c:pt>
                <c:pt idx="2">
                  <c:v>Madavaram (TVK)</c:v>
                </c:pt>
                <c:pt idx="3">
                  <c:v>Avadi (TVK)</c:v>
                </c:pt>
                <c:pt idx="4">
                  <c:v>Salem West (TVK)</c:v>
                </c:pt>
                <c:pt idx="5">
                  <c:v>Poonamallee (TVK)</c:v>
                </c:pt>
                <c:pt idx="6">
                  <c:v>Tiruppur N (TVK)</c:v>
                </c:pt>
                <c:pt idx="7">
                  <c:v>Viralimalai (AIADMK)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98110</c:v>
                </c:pt>
                <c:pt idx="1">
                  <c:v>96780</c:v>
                </c:pt>
                <c:pt idx="2">
                  <c:v>94985</c:v>
                </c:pt>
                <c:pt idx="3">
                  <c:v>76311</c:v>
                </c:pt>
                <c:pt idx="4">
                  <c:v>74867</c:v>
                </c:pt>
                <c:pt idx="5">
                  <c:v>72740</c:v>
                </c:pt>
                <c:pt idx="6">
                  <c:v>69992</c:v>
                </c:pt>
                <c:pt idx="7">
                  <c:v>62073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AE6-48A4-BB02-B52EB75A7F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B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42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9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fif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fif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f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linkedin.com/in/veena-chandra-20784923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1220675" y="457200"/>
            <a:ext cx="751184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 smtClean="0">
                <a:solidFill>
                  <a:srgbClr val="11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ELECTION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 Analysis  ·  234 Constituencies  ·  Six Regions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82880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383280"/>
            <a:ext cx="182880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383280"/>
            <a:ext cx="182880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3383280"/>
            <a:ext cx="182880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4597" y="43159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 VEENA </a:t>
            </a:r>
            <a:r>
              <a:rPr lang="en-US" sz="3200" dirty="0" smtClean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</a:t>
            </a:r>
          </a:p>
          <a:p>
            <a:r>
              <a:rPr lang="en-GB" sz="1400" dirty="0">
                <a:solidFill>
                  <a:schemeClr val="accent4"/>
                </a:solidFill>
              </a:rPr>
              <a:t>Data Analyst | Power BI </a:t>
            </a:r>
            <a:r>
              <a:rPr lang="en-GB" sz="1400" dirty="0" smtClean="0">
                <a:solidFill>
                  <a:schemeClr val="accent4"/>
                </a:solidFill>
              </a:rPr>
              <a:t>Developer</a:t>
            </a:r>
            <a:endParaRPr lang="en-US" sz="1400" dirty="0">
              <a:solidFill>
                <a:schemeClr val="accent4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0"/>
            <a:ext cx="2468880" cy="1371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TextBox 21"/>
          <p:cNvSpPr txBox="1"/>
          <p:nvPr/>
        </p:nvSpPr>
        <p:spPr>
          <a:xfrm>
            <a:off x="6562295" y="1294753"/>
            <a:ext cx="2831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Resume Project Challenge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ABOUT THIS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Deck Covers —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Tamil Nadu 2026 was not a normal election. A party that didn't exist in 2021 won 108 seats. Here's the data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832104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3840480" cy="987552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54864" cy="9875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122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Geographic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How 6 regions shifted — and which one is unrecognisable.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057400"/>
            <a:ext cx="3840480" cy="987552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2057400"/>
            <a:ext cx="54864" cy="9875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1122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122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Flip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5973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168 of 234 seats changed hands. The most volatile TN election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3840480" cy="987552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54864" cy="9875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2552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552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Vote Share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0273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TVK 35% vs DMK 24%. Where did those 14 points go?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200400"/>
            <a:ext cx="3840480" cy="987552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200400"/>
            <a:ext cx="54864" cy="9875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2552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552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Reserved Seats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0273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Did SC-reserved seats break differently? Spoiler: 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15968"/>
            <a:ext cx="3840480" cy="987552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315968"/>
            <a:ext cx="54864" cy="9875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37083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708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Margin of Victory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1830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Avg margin fell 27%. 19 TVK seats won by under 5,000 votes.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21" y="640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Story — Region-wise Seat Shift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76821" y="66731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of Tamil Nadu's 6 regions voted in 2021 vs </a:t>
            </a:r>
            <a:r>
              <a:rPr lang="en-US" sz="13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</a:p>
          <a:p>
            <a:r>
              <a:rPr lang="en-GB" sz="1400" dirty="0">
                <a:solidFill>
                  <a:schemeClr val="bg2"/>
                </a:solidFill>
              </a:rPr>
              <a:t>TVK expanded across all six regions, reshaping Tamil Nadu's regional political map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2024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2044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2021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1024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8412480" cy="0"/>
          </a:xfrm>
          <a:prstGeom prst="line">
            <a:avLst/>
          </a:prstGeom>
          <a:noFill/>
          <a:ln w="12700">
            <a:solidFill>
              <a:srgbClr val="1E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380744"/>
            <a:ext cx="8412480" cy="54864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4173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154533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545336"/>
            <a:ext cx="1988820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20116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213969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2139696"/>
            <a:ext cx="1064029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2044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26060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0" y="273405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2734056"/>
            <a:ext cx="905691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2024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52044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29768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2064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43600" y="32004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0" y="332841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3328416"/>
            <a:ext cx="889686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92024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2044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29768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12064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943600" y="37947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58000" y="392277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0" y="3922776"/>
            <a:ext cx="642310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92024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74320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52044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29768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12064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943600" y="43891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858000" y="4517136"/>
            <a:ext cx="2194560" cy="201168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67" name="Shape 65"/>
          <p:cNvSpPr/>
          <p:nvPr/>
        </p:nvSpPr>
        <p:spPr>
          <a:xfrm>
            <a:off x="6858000" y="4517136"/>
            <a:ext cx="66501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8" name="Text 66"/>
          <p:cNvSpPr/>
          <p:nvPr/>
        </p:nvSpPr>
        <p:spPr>
          <a:xfrm>
            <a:off x="6858000" y="475802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bar (%share of region)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4663440"/>
            <a:ext cx="6217920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265" y="4671650"/>
            <a:ext cx="68937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Metro: Most dramatic shift — DMK collapsed from 29→2, TVK swept 29 of 32 </a:t>
            </a:r>
            <a:r>
              <a:rPr lang="en-US" sz="1050" dirty="0" smtClean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</a:p>
          <a:p>
            <a:r>
              <a:rPr lang="en-GB" sz="105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Parties should adopt region-specific strategies, particularly in Chennai Metro, </a:t>
            </a:r>
            <a:r>
              <a:rPr lang="en-GB" sz="105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Kongu</a:t>
            </a:r>
            <a:r>
              <a:rPr lang="en-GB" sz="105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and South Tamil Nadu where voter preferences changed dramatically</a:t>
            </a:r>
            <a:endParaRPr lang="en-US" sz="10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 Story — 168 Constituencies Changed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electoral volatility — the highest in recent Tamil Nadu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103120" cy="1920240"/>
          </a:xfrm>
          <a:prstGeom prst="rect">
            <a:avLst/>
          </a:prstGeom>
          <a:solidFill>
            <a:srgbClr val="1622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0058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Constituency 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444752"/>
            <a:ext cx="201168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4447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(133)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490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TVK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444752"/>
            <a:ext cx="100584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4475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seats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112264"/>
            <a:ext cx="201168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112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(66)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157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TVK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112264"/>
            <a:ext cx="100584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1122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seats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2779776"/>
            <a:ext cx="201168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779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(133)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8254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AIADMK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2779776"/>
            <a:ext cx="100584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77977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seats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447288"/>
            <a:ext cx="201168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447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(66)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DMK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3447288"/>
            <a:ext cx="100584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4472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4114800"/>
            <a:ext cx="201168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4114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INC/Others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160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TVK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4114800"/>
            <a:ext cx="100584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41148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seats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1417320"/>
            <a:ext cx="1737360" cy="3383280"/>
          </a:xfrm>
          <a:prstGeom prst="rect">
            <a:avLst/>
          </a:prstGeom>
          <a:solidFill>
            <a:srgbClr val="16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71323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69480" y="3108960"/>
            <a:ext cx="1463040" cy="0"/>
          </a:xfrm>
          <a:prstGeom prst="line">
            <a:avLst/>
          </a:prstGeom>
          <a:noFill/>
          <a:ln w="12700">
            <a:solidFill>
              <a:srgbClr val="1E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3154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seats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1A10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attracted seats from both DMK and AIADMK — the dominant pattern was NOT a two-party exchange, but a triangular </a:t>
            </a:r>
            <a:r>
              <a:rPr lang="en-US" sz="1050" dirty="0" smtClean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realignment</a:t>
            </a:r>
          </a:p>
          <a:p>
            <a:r>
              <a:rPr lang="en-GB" sz="1050" dirty="0">
                <a:solidFill>
                  <a:schemeClr val="bg2"/>
                </a:solidFill>
              </a:rPr>
              <a:t>Parties should focus on retaining swing constituencies, as voter loyalty appears weaker than in previous elections</a:t>
            </a:r>
            <a:endParaRPr lang="en-US" sz="1050" dirty="0">
              <a:solidFill>
                <a:schemeClr val="bg2"/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781" y="-8214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— 2021 vs 2026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percentage of valid votes polled (excluding NOTA)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572000" y="137160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26280" y="1280160"/>
            <a:ext cx="0" cy="3474720"/>
          </a:xfrm>
          <a:prstGeom prst="line">
            <a:avLst/>
          </a:prstGeom>
          <a:noFill/>
          <a:ln w="12700">
            <a:solidFill>
              <a:srgbClr val="1E3A5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91840" y="2286000"/>
            <a:ext cx="2560320" cy="822960"/>
          </a:xfrm>
          <a:prstGeom prst="rect">
            <a:avLst/>
          </a:prstGeom>
          <a:solidFill>
            <a:srgbClr val="0D2B1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37560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entered at 35.1%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3756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overtaking AIADMK by 13.8 pp</a:t>
            </a:r>
            <a:endParaRPr lang="en-US" sz="1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856" y="51915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Seat Story — SC, ST &amp; General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reserved constituencies (44 SC + 2 ST) — Did they vote differently?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Reserved Seats (44)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Seats (188)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572000" y="137160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453128" y="1005840"/>
            <a:ext cx="0" cy="3566160"/>
          </a:xfrm>
          <a:prstGeom prst="line">
            <a:avLst/>
          </a:prstGeom>
          <a:noFill/>
          <a:ln w="12700">
            <a:solidFill>
              <a:srgbClr val="1E3A5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1A0D0D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36576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TVK: 23/44 SC seats + 84/188 General seats — TVK's appeal crossed all constituency categories </a:t>
            </a:r>
            <a:r>
              <a:rPr lang="en-US" sz="1050" dirty="0" smtClean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</a:t>
            </a:r>
          </a:p>
          <a:p>
            <a:r>
              <a:rPr lang="en-GB" sz="1050" dirty="0">
                <a:solidFill>
                  <a:schemeClr val="bg2"/>
                </a:solidFill>
              </a:rPr>
              <a:t>Future campaigns should prioritize outreach in reserved constituencies, where voter </a:t>
            </a:r>
            <a:r>
              <a:rPr lang="en-GB" sz="1050" dirty="0" err="1">
                <a:solidFill>
                  <a:schemeClr val="bg2"/>
                </a:solidFill>
              </a:rPr>
              <a:t>behavior</a:t>
            </a:r>
            <a:r>
              <a:rPr lang="en-GB" sz="1050" dirty="0">
                <a:solidFill>
                  <a:schemeClr val="bg2"/>
                </a:solidFill>
              </a:rPr>
              <a:t> is no longer aligned with historical patterns</a:t>
            </a:r>
            <a:endParaRPr lang="en-US" sz="1050" dirty="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Seat Tally — 2026 vs 2021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constituencies  ·  Majority mark: 118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188720"/>
            <a:ext cx="2560320" cy="8229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2252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08660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2167128"/>
            <a:ext cx="2560320" cy="8229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2037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086600" y="225856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Seats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145536"/>
            <a:ext cx="2560320" cy="8229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31821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86600" y="323697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Seats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4123944"/>
            <a:ext cx="2560320" cy="8229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41605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086600" y="421538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</a:t>
            </a:r>
            <a:endParaRPr lang="en-US" sz="11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2964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Victory Story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2026 election get more competitive or less?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3474720" cy="2066544"/>
          </a:xfrm>
          <a:prstGeom prst="rect">
            <a:avLst/>
          </a:prstGeom>
          <a:solidFill>
            <a:srgbClr val="16223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~23,000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Margin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3474720" cy="2194560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78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15361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805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Margin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Milestones (2026)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49040"/>
            <a:ext cx="365760" cy="5669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856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0876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  (5.6%)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with &gt;50% of votes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wins — clear mandate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07408"/>
            <a:ext cx="841248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407408"/>
            <a:ext cx="36576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4398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08760" y="4443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  (26.9%)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700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with &lt;35% of votes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517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Multi-cornered contests, fragmented votes</a:t>
            </a:r>
            <a:endParaRPr lang="en-US" sz="11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Victories — Top 8 Margins in 2026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 with the largest winning margins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27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dominated big margins — 6 of top 8 are TVK wins. Edapadi (AIADMK) was the single largest margin at 98,110 votes.</a:t>
            </a:r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2B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868680"/>
            <a:ext cx="5394960" cy="713232"/>
          </a:xfrm>
          <a:prstGeom prst="rect">
            <a:avLst/>
          </a:prstGeom>
          <a:solidFill>
            <a:srgbClr val="162233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868680"/>
            <a:ext cx="45720" cy="71323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90525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TVK Sweeps the State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17957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108 seats with 35.1% vote share — a historic debut, dominant in all 6 regions.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709928"/>
            <a:ext cx="5394960" cy="713232"/>
          </a:xfrm>
          <a:prstGeom prst="rect">
            <a:avLst/>
          </a:prstGeom>
          <a:solidFill>
            <a:srgbClr val="16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709928"/>
            <a:ext cx="45720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465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Chennai Metro — Total Reset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02082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fell from 29 → 2 seats; TVK captured 29/32 in the state's most urban region.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551176"/>
            <a:ext cx="5394960" cy="713232"/>
          </a:xfrm>
          <a:prstGeom prst="rect">
            <a:avLst/>
          </a:prstGeom>
          <a:solidFill>
            <a:srgbClr val="1622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551176"/>
            <a:ext cx="45720" cy="7132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587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72% Constituencies Flipped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0" y="286207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of 234 seats changed party — one of TN's most volatile elections ever.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3392424"/>
            <a:ext cx="5394960" cy="713232"/>
          </a:xfrm>
          <a:prstGeom prst="rect">
            <a:avLst/>
          </a:prstGeom>
          <a:solidFill>
            <a:srgbClr val="16223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392424"/>
            <a:ext cx="45720" cy="7132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429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Tighter Contests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37033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 fell from 23,000 to 17,000 votes; 63 seats won with &lt;35% vote share.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4233672"/>
            <a:ext cx="5394960" cy="713232"/>
          </a:xfrm>
          <a:prstGeom prst="rect">
            <a:avLst/>
          </a:prstGeom>
          <a:solidFill>
            <a:srgbClr val="1622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4233672"/>
            <a:ext cx="45720" cy="7132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2702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SC Seats — New Pattern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74720" y="454456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won 23/44 SC-reserved seats; DMK dropped from 21 → 9 in reserved constituencies.</a:t>
            </a:r>
            <a:endParaRPr lang="en-US" sz="10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EDITORIAL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 Content Stories AtliQ Should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Ranked by audience pull and shareability — based on the data patterns in this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832104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321040" cy="9144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64008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Calibri"/>
              </a:rPr>
              <a:t>#1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83664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Transfer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12848"/>
            <a:ext cx="8028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Did DMK voters move to TVK, or did TVK bring in new voters? A constituency-level comparison of total votes 2021 vs 2026 answers this definitively — and every political commentator is debating it right now. Highest virality potential.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52928"/>
            <a:ext cx="8321040" cy="9144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64008" cy="914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9077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#2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0779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19 Fragile Seats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36976"/>
            <a:ext cx="8028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TVK's majority rests on 19 seats won by under 5,000 votes — including one decided by a single vote (AC #185: 83,375 vs 83,374). Map these, profile them demographically. Every political strategist will share this piece before 2029.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77056"/>
            <a:ext cx="8321040" cy="9144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877056"/>
            <a:ext cx="64008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#3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93192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AIADMK's North TN Fortress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61104"/>
            <a:ext cx="8028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one region AIADMK held. What does the North vote tell us about caste arithmetic and EPS loyalists? A regional deep-dive that provides crucial nuance against the 'TVK landslide' narrative. Strong SEO for news cycle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8321040" cy="256032"/>
          </a:xfrm>
          <a:prstGeom prst="rect">
            <a:avLst/>
          </a:prstGeom>
          <a:solidFill>
            <a:srgbClr val="0D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81888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Bottom line: Tamil Nadu 2026 is the biggest political realignment story in South India in a decade. Commission the Transfer Story first.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223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001A1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</a:t>
            </a:r>
            <a:endParaRPr lang="en-US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Nadu's</a:t>
            </a:r>
            <a:endParaRPr lang="en-US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Shift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8892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8660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86600" y="4754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Covered</a:t>
            </a:r>
            <a:endParaRPr lang="en-US" sz="9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223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001A1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-97487"/>
            <a:ext cx="1075157" cy="5973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/>
          <p:cNvSpPr/>
          <p:nvPr/>
        </p:nvSpPr>
        <p:spPr>
          <a:xfrm>
            <a:off x="1828800" y="104825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solidFill>
                  <a:schemeClr val="bg2"/>
                </a:solidFill>
              </a:rPr>
              <a:t>Thank You!</a:t>
            </a:r>
            <a:endParaRPr lang="en-GB" dirty="0">
              <a:solidFill>
                <a:schemeClr val="bg2"/>
              </a:solidFill>
            </a:endParaRPr>
          </a:p>
          <a:p>
            <a:r>
              <a:rPr lang="en-GB" i="1" dirty="0">
                <a:solidFill>
                  <a:schemeClr val="bg2"/>
                </a:solidFill>
              </a:rPr>
              <a:t>Questions, feedback, or suggestions are always welcome. Feel free to connect with me.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07820" y="347526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LinkedIn: </a:t>
            </a:r>
            <a:r>
              <a:rPr lang="en-IN" sz="1200" dirty="0" smtClean="0">
                <a:solidFill>
                  <a:srgbClr val="FFC000"/>
                </a:solidFill>
                <a:latin typeface="system-ui"/>
                <a:hlinkClick r:id="rId4"/>
              </a:rPr>
              <a:t>www.linkedin.com/in/veena-chandra-207849231</a:t>
            </a:r>
            <a:endParaRPr lang="en-IN" sz="1200" dirty="0" smtClean="0">
              <a:solidFill>
                <a:srgbClr val="FFC000"/>
              </a:solidFill>
              <a:latin typeface="system-ui"/>
            </a:endParaRPr>
          </a:p>
          <a:p>
            <a:pPr fontAlgn="base"/>
            <a:r>
              <a:rPr lang="en-GB" sz="1200" dirty="0" smtClean="0">
                <a:solidFill>
                  <a:srgbClr val="FFC000"/>
                </a:solidFill>
                <a:latin typeface="system-ui"/>
              </a:rPr>
              <a:t>Email-     veenachandra.vn@gmail.com</a:t>
            </a:r>
            <a:endParaRPr lang="en-IN" sz="1200" dirty="0">
              <a:solidFill>
                <a:srgbClr val="FFC000"/>
              </a:solidFill>
              <a:latin typeface="system-ui"/>
            </a:endParaRPr>
          </a:p>
          <a:p>
            <a:r>
              <a:rPr lang="en-IN" sz="1200" dirty="0"/>
              <a:t/>
            </a: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16598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1024</Words>
  <Application>Microsoft Office PowerPoint</Application>
  <PresentationFormat>On-screen Show (16:9)</PresentationFormat>
  <Paragraphs>235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Nadu Assembly Election 2026 — Full Analysis</dc:title>
  <dc:subject>PptxGenJS Presentation</dc:subject>
  <dc:creator>PptxGenJS</dc:creator>
  <cp:lastModifiedBy>VEENA</cp:lastModifiedBy>
  <cp:revision>11</cp:revision>
  <dcterms:created xsi:type="dcterms:W3CDTF">2026-06-05T21:12:54Z</dcterms:created>
  <dcterms:modified xsi:type="dcterms:W3CDTF">2026-06-06T09:35:49Z</dcterms:modified>
</cp:coreProperties>
</file>